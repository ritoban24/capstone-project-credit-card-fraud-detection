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6400" b="1">
                <a:solidFill>
                  <a:srgbClr val="2DD4BF"/>
                </a:solidFill>
                <a:latin typeface="Arial"/>
              </a:defRPr>
            </a:pPr>
            <a:r>
              <a:t>Credit Card</a:t>
            </a:r>
            <a:br/>
            <a:r>
              <a:t>Fraud Detection</a:t>
            </a:r>
          </a:p>
          <a:p>
            <a:pPr algn="ctr">
              <a:spcAft>
                <a:spcPts val="4000"/>
              </a:spcAft>
              <a:defRPr sz="2400">
                <a:solidFill>
                  <a:srgbClr val="F1F5F9"/>
                </a:solidFill>
                <a:latin typeface="Arial"/>
              </a:defRPr>
            </a:pPr>
            <a:r>
              <a:t>Predictive Analysis &amp; Machine Learning Solution</a:t>
            </a:r>
          </a:p>
          <a:p>
            <a:pPr algn="ctr">
              <a:defRPr sz="1600" b="1">
                <a:solidFill>
                  <a:srgbClr val="94A3B8"/>
                </a:solidFill>
                <a:latin typeface="Arial"/>
              </a:defRPr>
            </a:pPr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Project Vision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The primary goal is to architect a machine learning solution that identifies fraudulent transactions in real-time, safeguarding financial ecosystems.</a:t>
            </a:r>
          </a:p>
          <a:p>
            <a:pPr>
              <a:spcAft>
                <a:spcPts val="4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•  Minimize Losses: </a:t>
            </a:r>
          </a:p>
          <a:p>
            <a:pPr>
              <a:spcAft>
                <a:spcPts val="15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Reduce unauthorized withdrawals and fraud payloads.</a:t>
            </a:r>
          </a:p>
          <a:p>
            <a:pPr>
              <a:spcAft>
                <a:spcPts val="4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•  Consumer Trust: </a:t>
            </a:r>
          </a:p>
          <a:p>
            <a:pPr>
              <a:spcAft>
                <a:spcPts val="15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Prevent annoying false declines of genuine user activities.</a:t>
            </a:r>
          </a:p>
          <a:p>
            <a:pPr>
              <a:spcAft>
                <a:spcPts val="4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•  Efficiency: </a:t>
            </a:r>
          </a:p>
          <a:p>
            <a:pPr>
              <a:spcAft>
                <a:spcPts val="15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Replace lagging manual audit pipelines with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>
                <a:solidFill>
                  <a:srgbClr val="2DD4BF"/>
                </a:solidFill>
                <a:latin typeface="Arial"/>
              </a:defRPr>
            </a:pPr>
            <a:r>
              <a:t>[ Real-Time Cybersecurity Shield Visualization ]</a:t>
            </a:r>
          </a:p>
          <a:p>
            <a:pPr algn="ctr">
              <a:defRPr sz="1600">
                <a:solidFill>
                  <a:srgbClr val="94A3B8"/>
                </a:solidFill>
                <a:latin typeface="Arial"/>
              </a:defRPr>
            </a:pPr>
            <a:r>
              <a:t>Integrates with core payment gateways to score transaction logs before authorization. Employs low-latency inference pipelines optimized for high transaction throughput.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Kaggle Dataset: Raw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4800" b="1">
                <a:solidFill>
                  <a:srgbClr val="2DD4BF"/>
                </a:solidFill>
                <a:latin typeface="Arial"/>
              </a:defRPr>
            </a:pPr>
            <a:r>
              <a:t>284K</a:t>
            </a:r>
          </a:p>
          <a:p>
            <a:pPr algn="ctr">
              <a:defRPr sz="1600" b="1">
                <a:solidFill>
                  <a:srgbClr val="F1F5F9"/>
                </a:solidFill>
                <a:latin typeface="Arial"/>
              </a:defRPr>
            </a:pPr>
            <a:r>
              <a:t>Total 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4800" b="1">
                <a:solidFill>
                  <a:srgbClr val="2DD4BF"/>
                </a:solidFill>
                <a:latin typeface="Arial"/>
              </a:defRPr>
            </a:pPr>
            <a:r>
              <a:t>492</a:t>
            </a:r>
          </a:p>
          <a:p>
            <a:pPr algn="ctr">
              <a:defRPr sz="1600" b="1">
                <a:solidFill>
                  <a:srgbClr val="F1F5F9"/>
                </a:solidFill>
                <a:latin typeface="Arial"/>
              </a:defRPr>
            </a:pPr>
            <a:r>
              <a:t>Fraudulent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4800" b="1">
                <a:solidFill>
                  <a:srgbClr val="2DD4BF"/>
                </a:solidFill>
                <a:latin typeface="Arial"/>
              </a:defRPr>
            </a:pPr>
            <a:r>
              <a:t>0.17%</a:t>
            </a:r>
          </a:p>
          <a:p>
            <a:pPr algn="ctr">
              <a:defRPr sz="1600" b="1">
                <a:solidFill>
                  <a:srgbClr val="F1F5F9"/>
                </a:solidFill>
                <a:latin typeface="Arial"/>
              </a:defRPr>
            </a:pPr>
            <a:r>
              <a:t>Fraud Prevalence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Structural Breakdown of Anonymous Features:</a:t>
            </a:r>
          </a:p>
          <a:p>
            <a:pPr>
              <a:defRPr sz="1500">
                <a:solidFill>
                  <a:srgbClr val="F1F5F9"/>
                </a:solidFill>
                <a:latin typeface="Arial"/>
              </a:defRPr>
            </a:pPr>
            <a:r>
              <a:t>The dataset represents European cardholders over a two-day period. Due to confidentiality, features V1-V28 are PCA-transformed principal components. Only 'Time', 'Amount', and 'Class' remain in their original raw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A critical challenge identified during EDA is the extreme class imbalance. Fraudulent transactions are practically 'needles in a haystack.'</a:t>
            </a:r>
          </a:p>
          <a:p>
            <a:pPr>
              <a:spcAft>
                <a:spcPts val="4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• Skewed Distributions: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Data for 'Amount' and 'Time' are heavily skewed, demanding logarithmic preprocessing scaling techniques.</a:t>
            </a:r>
          </a:p>
          <a:p>
            <a:pPr>
              <a:spcAft>
                <a:spcPts val="4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• Temporal Fluctuations: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Visual evaluation reveals distinct peak hours for fraudulent transactions, contrastingly low during quiet periods.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>
                <a:solidFill>
                  <a:srgbClr val="2DD4BF"/>
                </a:solidFill>
                <a:latin typeface="Arial"/>
              </a:defRPr>
            </a:pPr>
            <a:r>
              <a:t>[ Visual: Class Imbalance Histogram ]</a:t>
            </a:r>
          </a:p>
          <a:p>
            <a:pPr algn="ctr">
              <a:defRPr sz="1600">
                <a:solidFill>
                  <a:srgbClr val="94A3B8"/>
                </a:solidFill>
                <a:latin typeface="Arial"/>
              </a:defRPr>
            </a:pPr>
            <a:r>
              <a:t>A stark side-by-side distribution plot highlighting 99.82% legitimate vs. 0.17% anomalous transactional entries. Outlining extreme disparity that compromises standard ML classifiers without sampling adjustment.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Techniques: Balancing the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1F5F9"/>
                </a:solidFill>
                <a:latin typeface="Arial"/>
              </a:defRPr>
            </a:pPr>
            <a:r>
              <a:t>Standardization &amp; Synthetic Resampling</a:t>
            </a:r>
          </a:p>
          <a:p>
            <a:pPr>
              <a:spcAft>
                <a:spcPts val="25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To ensure estimators do not converge instantly on standard majorities, we implement SMOTE (Synthetic Minority Over-sampling Technique).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5029200" cy="1463040"/>
          </a:xfrm>
          <a:prstGeom prst="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DD4BF"/>
                </a:solidFill>
                <a:latin typeface="Arial"/>
              </a:defRPr>
            </a:pPr>
            <a:r>
              <a:t>SMOTE Vector Interpolation Formula:</a:t>
            </a:r>
          </a:p>
          <a:p>
            <a:pPr>
              <a:defRPr sz="1800" b="1">
                <a:solidFill>
                  <a:srgbClr val="F1F5F9"/>
                </a:solidFill>
                <a:latin typeface="Courier New"/>
              </a:defRPr>
            </a:pPr>
            <a:r>
              <a:t>X_new = x_i + λ * (x_zi - x_i)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Generates synthetic sample vectors linearly across k-nearest neighbors.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>
                <a:solidFill>
                  <a:srgbClr val="2DD4BF"/>
                </a:solidFill>
                <a:latin typeface="Arial"/>
              </a:defRPr>
            </a:pPr>
            <a:r>
              <a:t>[ Visual: SMOTE Interpolation Diagram ]</a:t>
            </a:r>
          </a:p>
          <a:p>
            <a:pPr algn="ctr">
              <a:defRPr sz="1500">
                <a:solidFill>
                  <a:srgbClr val="94A3B8"/>
                </a:solidFill>
                <a:latin typeface="Arial"/>
              </a:defRPr>
            </a:pPr>
            <a:r>
              <a:t>This graphical scheme maps how SMOTE avoids duplication overlays by selecting nearest minority clusters and synthesizing new nodes dynamically along bounding feature planes.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Model Development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Logistic Regression</a:t>
            </a:r>
          </a:p>
          <a:p>
            <a:pPr algn="ctr">
              <a:defRPr sz="1500">
                <a:solidFill>
                  <a:srgbClr val="F1F5F9"/>
                </a:solidFill>
                <a:latin typeface="Arial"/>
              </a:defRPr>
            </a:pPr>
            <a:r>
              <a:t>Evaluates basic linear relationships and benchmarks standard baseline metrics on PCA components.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Random Forest</a:t>
            </a:r>
          </a:p>
          <a:p>
            <a:pPr algn="ctr">
              <a:defRPr sz="1500">
                <a:solidFill>
                  <a:srgbClr val="F1F5F9"/>
                </a:solidFill>
                <a:latin typeface="Arial"/>
              </a:defRPr>
            </a:pPr>
            <a:r>
              <a:t>Leverages decision tree ensembles to capture intricate non-linear relationships and interactions.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XGBoost Classifier</a:t>
            </a:r>
          </a:p>
          <a:p>
            <a:pPr algn="ctr">
              <a:defRPr sz="1500">
                <a:solidFill>
                  <a:srgbClr val="F1F5F9"/>
                </a:solidFill>
                <a:latin typeface="Arial"/>
              </a:defRPr>
            </a:pPr>
            <a:r>
              <a:t>Utilizes sequence boosting pipelines for high precision models robust against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94A3B8"/>
                </a:solidFill>
                <a:latin typeface="Arial"/>
              </a:defRPr>
            </a:pPr>
            <a:r>
              <a:t>Note: Models were trained using K-Fold Stratified Cross-Validation to maintain native class proportions.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Comparative Results (Post-Balancing)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2011680"/>
                <a:gridCol w="192024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Machine Learning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Recall (Sensitivity)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XGBoost (Optimal)</a:t>
                      </a:r>
                    </a:p>
                  </a:txBody>
                  <a:tcPr>
                    <a:solidFill>
                      <a:srgbClr val="14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14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14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4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14232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12064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1F5F9"/>
                </a:solidFill>
                <a:latin typeface="Arial"/>
              </a:defRPr>
            </a:pPr>
            <a:r>
              <a:t>Optimal Recommendation: XGBoost yields the safest trade-off between identifying fraudulent threats (Recall) and controlling false operational alerts (Precision).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AUC-ROC &amp; Confusion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>
                <a:solidFill>
                  <a:srgbClr val="2DD4BF"/>
                </a:solidFill>
                <a:latin typeface="Arial"/>
              </a:defRPr>
            </a:pPr>
            <a:r>
              <a:t>[ Visual: Confusion Matrix Heatmap ]</a:t>
            </a:r>
          </a:p>
          <a:p>
            <a:pPr algn="ctr">
              <a:defRPr sz="1500">
                <a:solidFill>
                  <a:srgbClr val="94A3B8"/>
                </a:solidFill>
                <a:latin typeface="Arial"/>
              </a:defRPr>
            </a:pPr>
            <a:r>
              <a:t>Visualizes False Negatives (most critical risk in credit fraud, representing missed breaches) vs. False Positives (customer friction nodes).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1F5F9"/>
                </a:solidFill>
                <a:latin typeface="Arial"/>
              </a:defRPr>
            </a:pPr>
            <a:r>
              <a:t>Interpreting the Matrix</a:t>
            </a:r>
          </a:p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In high-stakes fraud detection, True Positives and False Negatives command asymmetric costs. A missed fraudster triggers severe monetary liabilities.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AUC-ROC Score: Achieved 0.98, demonstrating strong discrimination performance.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Recall Benchmark: Focuses strictly on reducing the instances of undetected fraud.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Key Drivers of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1F5F9"/>
                </a:solidFill>
                <a:latin typeface="Arial"/>
              </a:defRPr>
            </a:pPr>
            <a:r>
              <a:t>V17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645920"/>
            <a:ext cx="73152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645920"/>
            <a:ext cx="6949440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1F5F9"/>
                </a:solidFill>
                <a:latin typeface="Arial"/>
              </a:defRPr>
            </a:pPr>
            <a:r>
              <a:t>V14 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377440"/>
            <a:ext cx="73152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2377440"/>
            <a:ext cx="6437376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  <a:latin typeface="Arial"/>
              </a:defRPr>
            </a:pPr>
            <a: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1F5F9"/>
                </a:solidFill>
                <a:latin typeface="Arial"/>
              </a:defRPr>
            </a:pPr>
            <a:r>
              <a:t>V12 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108960"/>
            <a:ext cx="73152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3108960"/>
            <a:ext cx="5559552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1F5F9"/>
                </a:solidFill>
                <a:latin typeface="Arial"/>
              </a:defRPr>
            </a:pPr>
            <a:r>
              <a:t>Amount Spent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840480"/>
            <a:ext cx="73152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840480"/>
            <a:ext cx="3291840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 b="1">
                <a:solidFill>
                  <a:srgbClr val="0F172A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BF"/>
                </a:solidFill>
                <a:latin typeface="Arial"/>
              </a:defRPr>
            </a:pPr>
            <a:r>
              <a:t>Dimensionality Insights:</a:t>
            </a:r>
          </a:p>
          <a:p>
            <a:pPr>
              <a:defRPr sz="1500">
                <a:solidFill>
                  <a:srgbClr val="F1F5F9"/>
                </a:solidFill>
                <a:latin typeface="Arial"/>
              </a:defRPr>
            </a:pPr>
            <a:r>
              <a:t>Principal components V17 and V14 were the most influential predictors. These vectors likely capture transaction speed variance, geolocation hops, and unexpected changes in typical user behavior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DD4BF"/>
                </a:solidFill>
                <a:latin typeface="Arial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✔ Reliable Accuracy</a:t>
            </a:r>
          </a:p>
          <a:p>
            <a:pPr>
              <a:spcAft>
                <a:spcPts val="20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Applying SMOTE balancing resolves bias vulnerabilities across highly skewed transactional databases.</a:t>
            </a:r>
          </a:p>
          <a:p>
            <a:pPr>
              <a:spcAft>
                <a:spcPts val="2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✔ Optimal XGBoost Selection</a:t>
            </a:r>
          </a:p>
          <a:p>
            <a:pPr>
              <a:spcAft>
                <a:spcPts val="20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The XGBoost model generates high sensitivity (89% Recall) alongside optimized processing efficiency.</a:t>
            </a:r>
          </a:p>
          <a:p>
            <a:pPr>
              <a:spcAft>
                <a:spcPts val="2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✔ Scalable Next Steps</a:t>
            </a:r>
          </a:p>
          <a:p>
            <a:pPr>
              <a:spcAft>
                <a:spcPts val="20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Implementation roadmap calls for real-time Kafka messaging integration and Deep learning ANN model evaluations.</a:t>
            </a:r>
          </a:p>
          <a:p>
            <a:pPr algn="ctr">
              <a:spcBef>
                <a:spcPts val="2000"/>
              </a:spcBef>
              <a:defRPr sz="1400" b="1">
                <a:solidFill>
                  <a:srgbClr val="94A3B8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